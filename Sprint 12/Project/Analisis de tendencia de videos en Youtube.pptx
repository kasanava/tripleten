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71" r:id="rId12"/>
    <p:sldMasterId id="2147483673" r:id="rId13"/>
    <p:sldMasterId id="2147483675" r:id="rId14"/>
    <p:sldMasterId id="2147483677" r:id="rId15"/>
    <p:sldMasterId id="2147483679" r:id="rId16"/>
    <p:sldMasterId id="2147483681" r:id="rId17"/>
    <p:sldMasterId id="2147483683" r:id="rId18"/>
  </p:sldMasterIdLst>
  <p:sldIdLst>
    <p:sldId id="256" r:id="rId19"/>
    <p:sldId id="257" r:id="rId20"/>
    <p:sldId id="258" r:id="rId21"/>
    <p:sldId id="259" r:id="rId22"/>
    <p:sldId id="260" r:id="rId23"/>
    <p:sldId id="261" r:id="rId2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174680"/>
            <a:ext cx="109717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0024F5-86BB-482E-85C4-325973912E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C4DECA-C44F-46FC-9157-DB921EDC73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906C540-63A7-44BA-ACD4-8B869BECD0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1406EB0-3C9E-45C2-B9F3-DAD875733D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326B51C-321C-478F-ADD1-C08477666B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609480" y="1174680"/>
            <a:ext cx="109717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F24683B-B44E-444A-B01E-A6535AF4F6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ACEB062-F623-4059-92C4-393D0797BC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3CEC4BB-9957-4E5A-A5B7-6123998473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09480" y="1174680"/>
            <a:ext cx="109717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D71F8BE-03E0-4CB4-B8EF-AAA84EA4E8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7DE6AA9-4FF5-4D62-B1F7-04E2B983DF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90CF208-23ED-4424-A96F-08C5C25525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174680"/>
            <a:ext cx="109717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C85DDC7-77B0-4F90-B84A-545D863A5E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109717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3123379-0DC7-4582-9FFD-D1680F6295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FF61C28-642D-4CD1-AE24-9C21B3249A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53539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600" y="1174680"/>
            <a:ext cx="53539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CE665B22-0B3D-47D9-8D67-F0A7E3572E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BD4E61C-3165-4EE9-999E-9FFC15B5E1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595EA6B5-58E1-4E97-922B-5804EC8565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2BCA4962-19CE-4DA7-B305-DD30B5B222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059274C5-4B33-4A8E-B570-5A466BAC71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77CCB94-23FB-4B1B-8541-9565D7B791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4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7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8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9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outline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Second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Third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Fourth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chemeClr val="dk1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chemeClr val="dk1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chemeClr val="dk1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ftr" idx="4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5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6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ftr" idx="10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11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2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14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5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16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7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8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ftr" idx="19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20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21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ftr" idx="22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23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4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5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6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7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17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outline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Second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Third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Fourth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Fifth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Sixth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Seventh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8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9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dt" idx="30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  <p:sldLayoutId id="2147483668" r:id="rId4"/>
    <p:sldLayoutId id="2147483669" r:id="rId5"/>
    <p:sldLayoutId id="2147483670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31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32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3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539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outline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Second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Third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Fourth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Fifth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Sixth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Seventh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174680"/>
            <a:ext cx="5353920" cy="49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outline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Second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Third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Fourth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Fifth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Sixth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Seventh Outline Level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4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35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dt" idx="36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ftr" idx="37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38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39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ftr" idx="40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41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42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ftr" idx="43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44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45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ftr" idx="46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47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48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12207960" cy="685692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90" name="直接连接符 7"/>
          <p:cNvCxnSpPr/>
          <p:nvPr/>
        </p:nvCxnSpPr>
        <p:spPr>
          <a:xfrm>
            <a:off x="742680" y="434160"/>
            <a:ext cx="1080" cy="1392480"/>
          </a:xfrm>
          <a:prstGeom prst="straightConnector1">
            <a:avLst/>
          </a:prstGeom>
          <a:ln w="0">
            <a:solidFill>
              <a:srgbClr val="0066cc"/>
            </a:solidFill>
          </a:ln>
        </p:spPr>
      </p:cxnSp>
      <p:sp>
        <p:nvSpPr>
          <p:cNvPr id="91" name="PlaceHolder 1"/>
          <p:cNvSpPr>
            <a:spLocks noGrp="1"/>
          </p:cNvSpPr>
          <p:nvPr>
            <p:ph type="ftr" idx="49"/>
          </p:nvPr>
        </p:nvSpPr>
        <p:spPr>
          <a:xfrm>
            <a:off x="4165560" y="6245280"/>
            <a:ext cx="385956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  <a:ea typeface="SimSu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50"/>
          </p:nvPr>
        </p:nvSpPr>
        <p:spPr>
          <a:xfrm>
            <a:off x="873756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51"/>
          </p:nvPr>
        </p:nvSpPr>
        <p:spPr>
          <a:xfrm>
            <a:off x="609480" y="6245280"/>
            <a:ext cx="2843640" cy="47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10ay.online.tableau.com/t/ingsanchezkevin-bf4b5033b3/views/ProjectSprint12-KS/Dashboard1?:origin=card_share_link&amp;:embed=n" TargetMode="External"/><Relationship Id="rId2" Type="http://schemas.openxmlformats.org/officeDocument/2006/relationships/hyperlink" Target="https://public.tableau.com/views/ProjectSprint12-KS/Dashboard1?:language=es-ES&amp;:sid=&amp;:redirect=auth&amp;:display_count=n&amp;:origin=viz_share_link" TargetMode="External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24240" y="2736360"/>
            <a:ext cx="10942200" cy="108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36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Análisis de tendencia de videos en Youtube</a:t>
            </a:r>
            <a:endParaRPr b="0" lang="es-MX" sz="3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95" name="副标题 4"/>
          <p:cNvSpPr/>
          <p:nvPr/>
        </p:nvSpPr>
        <p:spPr>
          <a:xfrm>
            <a:off x="626760" y="5680800"/>
            <a:ext cx="10948320" cy="1022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s-MX" sz="32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Kevin Sánchez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标题 1"/>
          <p:cNvSpPr/>
          <p:nvPr/>
        </p:nvSpPr>
        <p:spPr>
          <a:xfrm>
            <a:off x="633240" y="114480"/>
            <a:ext cx="10942200" cy="1081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s-MX" sz="4400" strike="noStrike" u="none">
                <a:solidFill>
                  <a:schemeClr val="lt1"/>
                </a:solidFill>
                <a:uFillTx/>
                <a:latin typeface="Arial"/>
                <a:ea typeface="SimSun"/>
              </a:rPr>
              <a:t>Sterling &amp; Draper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1">
            <a:hlinkClick r:id="rId1"/>
          </p:cNvPr>
          <p:cNvSpPr/>
          <p:nvPr/>
        </p:nvSpPr>
        <p:spPr>
          <a:xfrm>
            <a:off x="-24840" y="5804640"/>
            <a:ext cx="4287960" cy="10814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chemeClr val="accent1"/>
                </a:solidFill>
                <a:uFillTx/>
                <a:latin typeface="Arial"/>
                <a:ea typeface="SimSun"/>
                <a:hlinkClick r:id="rId2"/>
              </a:rPr>
              <a:t>Link Dashboard</a:t>
            </a:r>
            <a:endParaRPr b="0" lang="es-MX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36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Resumen ejecutivo</a:t>
            </a:r>
            <a:endParaRPr b="0" lang="es-MX" sz="3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10971720" cy="4951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MX" sz="32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El análisis se centró en entender las categorías de videos más populares, su distribución geográfica y las particularidades del mercado estadounidense. Los resultados ofrecen una guía clara para la toma de decisiones estratégicas en campañas publicitarias.</a:t>
            </a:r>
            <a:endParaRPr b="0" lang="es-MX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905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36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Categorías de video más frecuentes en tendencia</a:t>
            </a:r>
            <a:endParaRPr b="0" lang="es-MX" sz="3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096560"/>
            <a:ext cx="4559040" cy="5030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Las cinco categorías de videos con mayor presencia en tendencias globales fueron: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Entertainment: 95,008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People &amp; Blogs: 44,700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Music: 34,390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News &amp; Politics: 34,202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Comedy: 29,470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es-MX" sz="1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La categoría </a:t>
            </a:r>
            <a:r>
              <a:rPr b="1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Entertainment </a:t>
            </a: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lideró las tendencias por amplio margen a lo largo de la temporada 2017-2018, lo que la convierte en la categoría más atractiva para enfocar las estrategias de marketing y obtener un alto alcance.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pic>
        <p:nvPicPr>
          <p:cNvPr id="102" name="Picture 86" descr=""/>
          <p:cNvPicPr/>
          <p:nvPr/>
        </p:nvPicPr>
        <p:blipFill>
          <a:blip r:embed="rId1"/>
          <a:stretch/>
        </p:blipFill>
        <p:spPr>
          <a:xfrm>
            <a:off x="5231880" y="1096560"/>
            <a:ext cx="6879960" cy="391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36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Distribución de tendencias por país</a:t>
            </a:r>
            <a:endParaRPr b="0" lang="es-MX" sz="3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8308440" cy="4952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s-MX" sz="24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El volumen de videos en tendencia por país:</a:t>
            </a: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144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24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Estados Unidos: 80,758</a:t>
            </a: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144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24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Francia: 75,404</a:t>
            </a: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144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24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Rusia: 73,694</a:t>
            </a: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144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24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India: 73,372</a:t>
            </a: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144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24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Japón: 36,762</a:t>
            </a: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s-MX" sz="24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El mercado estadounidense es el más dinámico en volumen y no muy por detrás de este se encuentran el resto de regiones; sin embargo Japón es la excepción al ser la mitad del volumen del resto de países por lo que se tendría que valorar si duplican esfuerzos o se cambia la estrategia para este lugar.</a:t>
            </a: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pic>
        <p:nvPicPr>
          <p:cNvPr id="105" name="Picture 89" descr=""/>
          <p:cNvPicPr/>
          <p:nvPr/>
        </p:nvPicPr>
        <p:blipFill>
          <a:blip r:embed="rId1"/>
          <a:stretch/>
        </p:blipFill>
        <p:spPr>
          <a:xfrm>
            <a:off x="9120600" y="1178640"/>
            <a:ext cx="2973240" cy="450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905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36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Categorías más populares de Estados Unidos y su comparación con el resto de países</a:t>
            </a:r>
            <a:endParaRPr b="0" lang="es-MX" sz="3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251640" y="1609560"/>
            <a:ext cx="11448000" cy="4516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El top 3 de categorías en EE. UU son: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Entertainment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Music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Howto &amp; Style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MX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Mientras que para el resto de 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países fueron: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Entertainment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People &amp; Blogs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971640" indent="-5144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News &amp; Politics 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MX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La categoría </a:t>
            </a:r>
            <a:r>
              <a:rPr b="1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Entertainment </a:t>
            </a:r>
            <a:r>
              <a:rPr b="0" lang="es-MX" sz="18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continúa siendo la más reproducida y  predomina el contenido educativo y práctico, mientras que para el resto de países domina el contenido social, político y de actualidad; por lo que se recomienda dirigir a estos ámbitos las campañas en EE. UU.</a:t>
            </a:r>
            <a:endParaRPr b="0" lang="es-MX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pic>
        <p:nvPicPr>
          <p:cNvPr id="108" name="Picture 1" descr=""/>
          <p:cNvPicPr/>
          <p:nvPr/>
        </p:nvPicPr>
        <p:blipFill>
          <a:blip r:embed="rId1"/>
          <a:srcRect l="0" t="20983" r="0" b="0"/>
          <a:stretch/>
        </p:blipFill>
        <p:spPr>
          <a:xfrm>
            <a:off x="4944240" y="1268640"/>
            <a:ext cx="1942920" cy="368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3" descr=""/>
          <p:cNvPicPr/>
          <p:nvPr/>
        </p:nvPicPr>
        <p:blipFill>
          <a:blip r:embed="rId2"/>
          <a:srcRect l="0" t="224" r="0" b="5720"/>
          <a:stretch/>
        </p:blipFill>
        <p:spPr>
          <a:xfrm>
            <a:off x="7228800" y="1268640"/>
            <a:ext cx="4352400" cy="377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720" cy="581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36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Conclusiones finales</a:t>
            </a:r>
            <a:endParaRPr b="0" lang="es-MX" sz="3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174680"/>
            <a:ext cx="10971720" cy="4951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s-MX" sz="2400" strike="noStrike" u="none">
                <a:solidFill>
                  <a:schemeClr val="dk1"/>
                </a:solidFill>
                <a:uFillTx/>
                <a:latin typeface="Arial"/>
                <a:ea typeface="SimSun"/>
              </a:rPr>
              <a:t>El análisis muestra que Entertainment lidera de forma contundente las tendencias de YouTube a nivel global, posicionándose como la categoría más atractiva para campañas masivas. Estados Unidos, aunque es el país con mayor volumen de videos en tendencia, presenta una particularidad clave: los usuarios allí muestran un fuerte interés por contenido Howto &amp; Style, lo que sugiere una oportunidad estratégica para personalizar campañas en ese mercado. En contraste, en el resto del mundo predominan las categorías sociales y políticas, como People &amp; Blogs y News &amp; Politics. Además, Francia, Rusia e India emergen como países con alta actividad de tendencias, lo que las convierte en focos potenciales para expansión y segmentación internacional.</a:t>
            </a:r>
            <a:endParaRPr b="0" lang="es-MX" sz="2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LibreOffice/24.8.7.2$Linux_X86_64 LibreOffice_project/f4f281f562fb585d46b0af5755dfe1eb6adc047f</Application>
  <AppVersion>15.0000</AppVersion>
  <Words>2530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2025-06-27T22:58:11Z</dcterms:created>
  <dc:creator/>
  <dc:description/>
  <dc:language>es-MX</dc:language>
  <cp:lastModifiedBy>kevin</cp:lastModifiedBy>
  <cp:lastPrinted>2025-06-27T22:58:11Z</cp:lastPrinted>
  <dcterms:modified xsi:type="dcterms:W3CDTF">2025-06-27T22:58:11Z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